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7f23475bb4776" /><Relationship Type="http://schemas.openxmlformats.org/officeDocument/2006/relationships/extended-properties" Target="/docProps/app.xml" Id="R8118a22aca13497a" /><Relationship Type="http://schemas.openxmlformats.org/officeDocument/2006/relationships/officeDocument" Target="/ppt/presentation.xml" Id="Rf801e2c96228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461b17e034d75"/>
  </p:sldMasterIdLst>
  <p:notesMasterIdLst>
    <p:notesMasterId xmlns:r="http://schemas.openxmlformats.org/officeDocument/2006/relationships" r:id="Re6d852bfadc142ee"/>
  </p:notesMasterIdLst>
  <p:sldIdLst>
    <p:sldId xmlns:r="http://schemas.openxmlformats.org/officeDocument/2006/relationships" id="256" r:id="R3354c686ddc9458f"/>
    <p:sldId xmlns:r="http://schemas.openxmlformats.org/officeDocument/2006/relationships" id="257" r:id="Rce9a2d6860ba4224"/>
    <p:sldId xmlns:r="http://schemas.openxmlformats.org/officeDocument/2006/relationships" id="258" r:id="Rc12111b016754af7"/>
    <p:sldId xmlns:r="http://schemas.openxmlformats.org/officeDocument/2006/relationships" id="259" r:id="R0ee3a520a69744c6"/>
    <p:sldId xmlns:r="http://schemas.openxmlformats.org/officeDocument/2006/relationships" id="260" r:id="R76322ec10eab47db"/>
    <p:sldId xmlns:r="http://schemas.openxmlformats.org/officeDocument/2006/relationships" id="261" r:id="R59915403fe5243ed"/>
    <p:sldId xmlns:r="http://schemas.openxmlformats.org/officeDocument/2006/relationships" id="262" r:id="Rf9b6a674e75e407c"/>
    <p:sldId xmlns:r="http://schemas.openxmlformats.org/officeDocument/2006/relationships" id="263" r:id="R1ea60da1eb1949b3"/>
    <p:sldId xmlns:r="http://schemas.openxmlformats.org/officeDocument/2006/relationships" id="264" r:id="Ra78483c2428440a6"/>
    <p:sldId xmlns:r="http://schemas.openxmlformats.org/officeDocument/2006/relationships" id="265" r:id="Rd76368222d814bcc"/>
    <p:sldId xmlns:r="http://schemas.openxmlformats.org/officeDocument/2006/relationships" id="266" r:id="R73d87b5ece8a4d06"/>
    <p:sldId xmlns:r="http://schemas.openxmlformats.org/officeDocument/2006/relationships" id="267" r:id="R00c47f7214c24dca"/>
    <p:sldId xmlns:r="http://schemas.openxmlformats.org/officeDocument/2006/relationships" id="268" r:id="Raa57225bcbb34491"/>
    <p:sldId xmlns:r="http://schemas.openxmlformats.org/officeDocument/2006/relationships" id="269" r:id="R7a0a1887b908457c"/>
    <p:sldId xmlns:r="http://schemas.openxmlformats.org/officeDocument/2006/relationships" id="270" r:id="Rdb8c7a96bf9f4e64"/>
    <p:sldId xmlns:r="http://schemas.openxmlformats.org/officeDocument/2006/relationships" id="271" r:id="R4497913240ae4f02"/>
    <p:sldId xmlns:r="http://schemas.openxmlformats.org/officeDocument/2006/relationships" id="272" r:id="Rad4c5b0d38ae4e90"/>
    <p:sldId xmlns:r="http://schemas.openxmlformats.org/officeDocument/2006/relationships" id="273" r:id="Rb014307f19694d8e"/>
    <p:sldId xmlns:r="http://schemas.openxmlformats.org/officeDocument/2006/relationships" id="274" r:id="R07416f278e7c494e"/>
    <p:sldId xmlns:r="http://schemas.openxmlformats.org/officeDocument/2006/relationships" id="275" r:id="Rfe4b66ec9bce45ba"/>
    <p:sldId xmlns:r="http://schemas.openxmlformats.org/officeDocument/2006/relationships" id="276" r:id="R5ec39ef1398e4c5c"/>
    <p:sldId xmlns:r="http://schemas.openxmlformats.org/officeDocument/2006/relationships" id="277" r:id="Rb66c936218414b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c7ce572ac946c2" /><Relationship Type="http://schemas.openxmlformats.org/officeDocument/2006/relationships/slideMaster" Target="/ppt/slideMasters/slideMaster1.xml" Id="R318461b17e034d75" /><Relationship Type="http://schemas.openxmlformats.org/officeDocument/2006/relationships/notesMaster" Target="/ppt/notesMasters/notesMaster1.xml" Id="Re6d852bfadc142ee" /><Relationship Type="http://schemas.openxmlformats.org/officeDocument/2006/relationships/presProps" Target="/ppt/presProps.xml" Id="R842ce7f6e7f649ec" /><Relationship Type="http://schemas.openxmlformats.org/officeDocument/2006/relationships/tableStyles" Target="/ppt/tableStyles.xml" Id="R7b8670a8cd284974" /><Relationship Type="http://schemas.openxmlformats.org/officeDocument/2006/relationships/slide" Target="/ppt/slides/slide1.xml" Id="R3354c686ddc9458f" /><Relationship Type="http://schemas.openxmlformats.org/officeDocument/2006/relationships/slide" Target="/ppt/slides/slide2.xml" Id="Rce9a2d6860ba4224" /><Relationship Type="http://schemas.openxmlformats.org/officeDocument/2006/relationships/slide" Target="/ppt/slides/slide3.xml" Id="Rc12111b016754af7" /><Relationship Type="http://schemas.openxmlformats.org/officeDocument/2006/relationships/slide" Target="/ppt/slides/slide4.xml" Id="R0ee3a520a69744c6" /><Relationship Type="http://schemas.openxmlformats.org/officeDocument/2006/relationships/slide" Target="/ppt/slides/slide5.xml" Id="R76322ec10eab47db" /><Relationship Type="http://schemas.openxmlformats.org/officeDocument/2006/relationships/slide" Target="/ppt/slides/slide6.xml" Id="R59915403fe5243ed" /><Relationship Type="http://schemas.openxmlformats.org/officeDocument/2006/relationships/slide" Target="/ppt/slides/slide7.xml" Id="Rf9b6a674e75e407c" /><Relationship Type="http://schemas.openxmlformats.org/officeDocument/2006/relationships/slide" Target="/ppt/slides/slide8.xml" Id="R1ea60da1eb1949b3" /><Relationship Type="http://schemas.openxmlformats.org/officeDocument/2006/relationships/slide" Target="/ppt/slides/slide9.xml" Id="Ra78483c2428440a6" /><Relationship Type="http://schemas.openxmlformats.org/officeDocument/2006/relationships/slide" Target="/ppt/slides/slide10.xml" Id="Rd76368222d814bcc" /><Relationship Type="http://schemas.openxmlformats.org/officeDocument/2006/relationships/slide" Target="/ppt/slides/slide11.xml" Id="R73d87b5ece8a4d06" /><Relationship Type="http://schemas.openxmlformats.org/officeDocument/2006/relationships/slide" Target="/ppt/slides/slide12.xml" Id="R00c47f7214c24dca" /><Relationship Type="http://schemas.openxmlformats.org/officeDocument/2006/relationships/slide" Target="/ppt/slides/slide13.xml" Id="Raa57225bcbb34491" /><Relationship Type="http://schemas.openxmlformats.org/officeDocument/2006/relationships/slide" Target="/ppt/slides/slide14.xml" Id="R7a0a1887b908457c" /><Relationship Type="http://schemas.openxmlformats.org/officeDocument/2006/relationships/slide" Target="/ppt/slides/slide15.xml" Id="Rdb8c7a96bf9f4e64" /><Relationship Type="http://schemas.openxmlformats.org/officeDocument/2006/relationships/slide" Target="/ppt/slides/slide16.xml" Id="R4497913240ae4f02" /><Relationship Type="http://schemas.openxmlformats.org/officeDocument/2006/relationships/slide" Target="/ppt/slides/slide17.xml" Id="Rad4c5b0d38ae4e90" /><Relationship Type="http://schemas.openxmlformats.org/officeDocument/2006/relationships/slide" Target="/ppt/slides/slide18.xml" Id="Rb014307f19694d8e" /><Relationship Type="http://schemas.openxmlformats.org/officeDocument/2006/relationships/slide" Target="/ppt/slides/slide19.xml" Id="R07416f278e7c494e" /><Relationship Type="http://schemas.openxmlformats.org/officeDocument/2006/relationships/slide" Target="/ppt/slides/slide20.xml" Id="Rfe4b66ec9bce45ba" /><Relationship Type="http://schemas.openxmlformats.org/officeDocument/2006/relationships/slide" Target="/ppt/slides/slide21.xml" Id="R5ec39ef1398e4c5c" /><Relationship Type="http://schemas.openxmlformats.org/officeDocument/2006/relationships/slide" Target="/ppt/slides/slide22.xml" Id="Rb66c936218414b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fd164d9e2f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de919d83e41a2" /><Relationship Type="http://schemas.openxmlformats.org/officeDocument/2006/relationships/notesMaster" Target="/ppt/notesMasters/notesMaster1.xml" Id="Rc35c72eabd4c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bf8da8a5946c2" /><Relationship Type="http://schemas.openxmlformats.org/officeDocument/2006/relationships/notesMaster" Target="/ppt/notesMasters/notesMaster1.xml" Id="Rc18a7639774e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c1e069225540e8" /><Relationship Type="http://schemas.openxmlformats.org/officeDocument/2006/relationships/notesMaster" Target="/ppt/notesMasters/notesMaster1.xml" Id="Rb899313939d0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b45714602e4a8f" /><Relationship Type="http://schemas.openxmlformats.org/officeDocument/2006/relationships/notesMaster" Target="/ppt/notesMasters/notesMaster1.xml" Id="R9f969df0dd64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ac7d958174248" /><Relationship Type="http://schemas.openxmlformats.org/officeDocument/2006/relationships/notesMaster" Target="/ppt/notesMasters/notesMaster1.xml" Id="Rc843bc8fdd6342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dc61170544fa9" /><Relationship Type="http://schemas.openxmlformats.org/officeDocument/2006/relationships/notesMaster" Target="/ppt/notesMasters/notesMaster1.xml" Id="R4e40dc065635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1df2eb185b444b" /><Relationship Type="http://schemas.openxmlformats.org/officeDocument/2006/relationships/notesMaster" Target="/ppt/notesMasters/notesMaster1.xml" Id="R452d748d50a0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bf19822a94ac1" /><Relationship Type="http://schemas.openxmlformats.org/officeDocument/2006/relationships/notesMaster" Target="/ppt/notesMasters/notesMaster1.xml" Id="Rb2aadf37dc1448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d0369a1c514f87" /><Relationship Type="http://schemas.openxmlformats.org/officeDocument/2006/relationships/notesMaster" Target="/ppt/notesMasters/notesMaster1.xml" Id="R8b3d50d9195d44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39db9afbee43bd" /><Relationship Type="http://schemas.openxmlformats.org/officeDocument/2006/relationships/notesMaster" Target="/ppt/notesMasters/notesMaster1.xml" Id="Rf5db1fc63bca4e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f9000805964d6d" /><Relationship Type="http://schemas.openxmlformats.org/officeDocument/2006/relationships/notesMaster" Target="/ppt/notesMasters/notesMaster1.xml" Id="R91b47ac55101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66b661b5614971" /><Relationship Type="http://schemas.openxmlformats.org/officeDocument/2006/relationships/notesMaster" Target="/ppt/notesMasters/notesMaster1.xml" Id="Rd84949d4dcf84a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f36e15b93b4e2f" /><Relationship Type="http://schemas.openxmlformats.org/officeDocument/2006/relationships/notesMaster" Target="/ppt/notesMasters/notesMaster1.xml" Id="R70a16b192ba443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ce61a656014f72" /><Relationship Type="http://schemas.openxmlformats.org/officeDocument/2006/relationships/notesMaster" Target="/ppt/notesMasters/notesMaster1.xml" Id="R4563e8259a9d4a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590817cf1f459f" /><Relationship Type="http://schemas.openxmlformats.org/officeDocument/2006/relationships/notesMaster" Target="/ppt/notesMasters/notesMaster1.xml" Id="R597830ce35e34a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776d82f50b4168" /><Relationship Type="http://schemas.openxmlformats.org/officeDocument/2006/relationships/notesMaster" Target="/ppt/notesMasters/notesMaster1.xml" Id="R0ee5c789e07f4c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2b09f0a22a4cce" /><Relationship Type="http://schemas.openxmlformats.org/officeDocument/2006/relationships/notesMaster" Target="/ppt/notesMasters/notesMaster1.xml" Id="R8629f7db220848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828ac2e8f94a4d" /><Relationship Type="http://schemas.openxmlformats.org/officeDocument/2006/relationships/notesMaster" Target="/ppt/notesMasters/notesMaster1.xml" Id="Rd10862168c094c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d46076af3c42d8" /><Relationship Type="http://schemas.openxmlformats.org/officeDocument/2006/relationships/notesMaster" Target="/ppt/notesMasters/notesMaster1.xml" Id="Ra9da0820fa074f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4237cab4944349" /><Relationship Type="http://schemas.openxmlformats.org/officeDocument/2006/relationships/notesMaster" Target="/ppt/notesMasters/notesMaster1.xml" Id="R1e0be47b5ed748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c42df1dd584a33" /><Relationship Type="http://schemas.openxmlformats.org/officeDocument/2006/relationships/notesMaster" Target="/ppt/notesMasters/notesMaster1.xml" Id="Rb497d5d803f244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f76d18b8454ae2" /><Relationship Type="http://schemas.openxmlformats.org/officeDocument/2006/relationships/notesMaster" Target="/ppt/notesMasters/notesMaster1.xml" Id="R9500d098f9e2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dd055871a42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02fa5714e41d2" /><Relationship Type="http://schemas.openxmlformats.org/officeDocument/2006/relationships/slideLayout" Target="/ppt/slideLayouts/slideLayout1.xml" Id="Ra8cb01b0ac6e47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b01b0ac6e47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80b45e7274682" /><Relationship Type="http://schemas.openxmlformats.org/officeDocument/2006/relationships/notesSlide" Target="/ppt/notesSlides/notesSlide1.xml" Id="R5c2284ed624c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e050238aa404f" /><Relationship Type="http://schemas.openxmlformats.org/officeDocument/2006/relationships/notesSlide" Target="/ppt/notesSlides/notesSlide2.xml" Id="Re4784adcab864c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7630a17194f07" /><Relationship Type="http://schemas.openxmlformats.org/officeDocument/2006/relationships/notesSlide" Target="/ppt/notesSlides/notesSlide3.xml" Id="R6791af953e044a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4e11757cf4f09" /><Relationship Type="http://schemas.openxmlformats.org/officeDocument/2006/relationships/notesSlide" Target="/ppt/notesSlides/notesSlide4.xml" Id="R6513614d965640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fafd500234f84" /><Relationship Type="http://schemas.openxmlformats.org/officeDocument/2006/relationships/notesSlide" Target="/ppt/notesSlides/notesSlide5.xml" Id="R02a81ef3bbe2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954b0f5b4907" /><Relationship Type="http://schemas.openxmlformats.org/officeDocument/2006/relationships/notesSlide" Target="/ppt/notesSlides/notesSlide6.xml" Id="R5ea9d71fc87541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d0353bcd64273" /><Relationship Type="http://schemas.openxmlformats.org/officeDocument/2006/relationships/notesSlide" Target="/ppt/notesSlides/notesSlide7.xml" Id="R7b6abd84d626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88b1bdc24a3d" /><Relationship Type="http://schemas.openxmlformats.org/officeDocument/2006/relationships/notesSlide" Target="/ppt/notesSlides/notesSlide8.xml" Id="R08b1742c8c1846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28a3a1544e5a" /><Relationship Type="http://schemas.openxmlformats.org/officeDocument/2006/relationships/notesSlide" Target="/ppt/notesSlides/notesSlide9.xml" Id="Rd5ad2a7fe09344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90dbdd8604fce" /><Relationship Type="http://schemas.openxmlformats.org/officeDocument/2006/relationships/notesSlide" Target="/ppt/notesSlides/notesSlide10.xml" Id="Rf6017d2ce74e40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344965a454bac" /><Relationship Type="http://schemas.openxmlformats.org/officeDocument/2006/relationships/notesSlide" Target="/ppt/notesSlides/notesSlide11.xml" Id="Rb439c31b38bf4b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95b51f5f14dcd" /><Relationship Type="http://schemas.openxmlformats.org/officeDocument/2006/relationships/notesSlide" Target="/ppt/notesSlides/notesSlide12.xml" Id="R2e463b141fa94f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6c810022c4caf" /><Relationship Type="http://schemas.openxmlformats.org/officeDocument/2006/relationships/notesSlide" Target="/ppt/notesSlides/notesSlide13.xml" Id="R0cdb0f224703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ac175761f4a87" /><Relationship Type="http://schemas.openxmlformats.org/officeDocument/2006/relationships/notesSlide" Target="/ppt/notesSlides/notesSlide14.xml" Id="Rd4e70f7b582249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177d297f74bec" /><Relationship Type="http://schemas.openxmlformats.org/officeDocument/2006/relationships/notesSlide" Target="/ppt/notesSlides/notesSlide15.xml" Id="R5d6836d63d7b45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a6c1b885947d2" /><Relationship Type="http://schemas.openxmlformats.org/officeDocument/2006/relationships/notesSlide" Target="/ppt/notesSlides/notesSlide16.xml" Id="R05274fe059eb4a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6a84802c4e40" /><Relationship Type="http://schemas.openxmlformats.org/officeDocument/2006/relationships/notesSlide" Target="/ppt/notesSlides/notesSlide17.xml" Id="R9167216a9a2f4c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50770570d4ada" /><Relationship Type="http://schemas.openxmlformats.org/officeDocument/2006/relationships/notesSlide" Target="/ppt/notesSlides/notesSlide18.xml" Id="Rf85763699c294c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fde9a0b84ab0" /><Relationship Type="http://schemas.openxmlformats.org/officeDocument/2006/relationships/notesSlide" Target="/ppt/notesSlides/notesSlide19.xml" Id="R5953e85270fc42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e065fd3f247de" /><Relationship Type="http://schemas.openxmlformats.org/officeDocument/2006/relationships/notesSlide" Target="/ppt/notesSlides/notesSlide20.xml" Id="R698383254b8141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a804d091a41a7" /><Relationship Type="http://schemas.openxmlformats.org/officeDocument/2006/relationships/notesSlide" Target="/ppt/notesSlides/notesSlide21.xml" Id="R82e48635149342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bec47707d4c28" /><Relationship Type="http://schemas.openxmlformats.org/officeDocument/2006/relationships/notesSlide" Target="/ppt/notesSlides/notesSlide22.xml" Id="Ra470160c9b7546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A5713-5447-4711-99E1-381138F9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2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Automating the obstacle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0E800-9245-419B-9B5E-574A254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with Flowproof 0.12.2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C9C1F-CE1D-4270-9575-F38D9FB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Human intent at record time. Deterministic proof at replay.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8B0D8-1B9B-4599-AE41-2E4CCC19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43C0B-F75A-495C-AD9F-3DBD0B3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8CE0C-5678-4295-9E1F-285BD064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14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AEFDD-B926-42BA-B116-5CCCB06D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91552-3742-4D7B-A60F-B379221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9E648-D8D0-4C9F-AA41-55A1EA9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refused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6860B-FB41-42A8-BCAF-B8BB07E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76A90-C36C-4463-AC5D-0168A64D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Verified against the 0.12.2 authoring contract</a:t>
            </a:r>
          </a:p>
        </p:txBody>
      </p:sp>
      <p:sp>
        <p:nvSpPr>
          <p:cNvPr id="1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BA069F6-A806-4828-997A-9A9009D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93B171-D43E-49B8-B1D2-F9AD1A4F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1682912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09A9B-6D18-495D-A049-1DE329F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first half teaches the mechanism.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28E288-7037-4F6A-BBF0-556C4BD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second half lets every obstacle name the technique it needs.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4ECA-E593-4318-8F54-7DBDDD6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Human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63D63-CA38-490A-BB91-BC96DF9B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Write the action in ordinary words.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0E39B-C239-4227-83EC-D966372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Grounded recording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735D5-5A7C-423D-BCC7-B0EA9B10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model chooses only from the live inventory.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701B9-E594-490F-B579-43C8C70C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Deterministic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32650-0A55-4BF4-85AE-AE4FC95F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Selectors live in the trace, not in the author's prose.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7017D-0CC0-4377-AD03-5DCFB19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Honest refusal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FD1F4-1937-4D75-AEF0-01AFA54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false green is worse than a loud limitation.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A3F78-B5F6-4ED8-953D-E28BADE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Forty exercises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8688E-75A3-48F5-AC3F-88A56271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Twenty-eight pass; twelve document a real boundary.</a:t>
            </a:r>
          </a:p>
        </p:txBody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75672CE-30ED-46B9-9C41-F549F5FE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94FF2E-9A5E-4079-8D18-7B8EF1BE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962038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F3105-F04F-4B97-BD52-91E061C5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Record once. Replay from then on.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6DC6EA-26AD-4CBC-A445-26722F2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model participates only while the human intent is grounded.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47B37-7F84-4CCE-BC72-AA3F9401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F5752-CBE6-45A3-8494-A408B0C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Live app + human steps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produces a validated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427D5-8A82-4916-850B-423C242F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382ED-E17D-47EB-BE74-2A74B77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Trace only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zero authoring-model calls</a:t>
            </a:r>
          </a:p>
        </p:txBody>
      </p:sp>
      <p:sp>
        <p:nvSpPr>
          <p:cNvPr id="7" name="code-card">
            <a:extLst xmlns:a="http://schemas.openxmlformats.org/drawingml/2006/main">
              <a:ext uri="{FF2B5EF4-FFF2-40B4-BE49-F238E27FC236}">
                <a16:creationId xmlns:a16="http://schemas.microsoft.com/office/drawing/2014/main" id="{EE50F8CB-4C24-45D1-9C78-4DEED023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6381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AD726069-207B-4261-83FA-C3CBC76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5810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flowproof record order.flow.yaml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flowproof run    order.flow.yaml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Order status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https://example.com/orders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ABC in the order ID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Search for the order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Shipped</a:t>
            </a:r>
          </a:p>
        </p:txBody>
      </p:sp>
      <p:sp>
        <p:nvSpPr>
          <p:cNvPr id="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941A6A5-FB79-4D81-95B3-5396A86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B86CCD-D2AB-46D4-AA21-E6DB65A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1368690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3BF83C-68F2-4702-9622-20DF646D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Describe the thing you mean.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D3B21E-F9A3-4B4A-9EE4-114BCC67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Different wording can express the same intent because the live scene supplies the possible targets.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7DF16-7C51-4D66-BB5B-0DB06A3A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Save the 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6D1F1-807C-40F1-9389-9524E599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visible Save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CB7D1-3BCC-41D0-8742-50547FF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Could you save this?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288EC-6376-467E-8F47-F4BC652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same intent, conversationally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9A867-0535-4BD9-9F5C-DA4DCC99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Use the second Delete button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F606D-D320-4CB3-8559-012A298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one of several look-alikes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EC283-2FCF-4BD5-80BB-AF3C7BA5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Choose Grace Hopper's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B9341-2708-486B-96F6-F6E836AF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target identified by nearby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86DDD-0729-4914-855A-3A94840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Put Tosca in the embedded 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80397-7526-4400-AA59-C34B392F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field inside a same-origin frame</a:t>
            </a:r>
          </a:p>
        </p:txBody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3E3D4B1-CDDF-4E13-B3B5-BB582DB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2D874A-CC44-442C-BB9E-B40635B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1942798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32160-B841-4573-BF76-8859AE9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Relationships make selectors unnecessary.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20D658-D182-4C55-95F8-298A9B8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human names the value by what surrounds it; Flowproof records the deterministic scoped target.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6E9E87F6-3AFD-48E2-8371-06C5C002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4869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D2F1B309-C280-44ED-A9AC-BBFA10A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8915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value beside "order id" as the order 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order ID in the offer ID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2ABA8-EB0D-468E-BDD3-73329F7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8411-A809-4AAA-9389-679EACAC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The author names the relationship, not the DOM structure</a:t>
            </a:r>
          </a:p>
        </p:txBody>
      </p:sp>
      <p:sp>
        <p:nvSpPr>
          <p:cNvPr id="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04A0C87-A4E9-4177-802B-1B0A8CE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21619D-DB91-4A1C-927E-1E49222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715644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94ED5A-551C-48FE-A8D3-2CA05D3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Say what the person does.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37EF0D-5741-4DF9-B575-52B3BD4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Plain language covers direct, relational, positional, multi-control, frame, and keyboard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BA042-F947-4FDD-B2DF-23BD88E3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Save the 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3A68D-8A5D-492D-89FF-F8E9DC7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press a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CE409-1AD1-426D-A614-8846F09E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Click the right half of the button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0A774-B345-45E1-BE57-95F6CE4A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click a meaningful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07DD-51B6-40D8-80B2-5500376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Choose A, B and C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6A4A0-66D8-404F-AB30-8185D8E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commit several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71279-6641-4296-8558-11BE79AD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Bring the footer into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14EB9-A2EF-4052-99C4-787192F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scroll to an off-screen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4942D-E4F6-41D8-98A4-21B7063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Drag Row 1 into Done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6541F-BFAB-4306-8729-D1AAE78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press, move while held,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B1B52-DA95-418A-85C3-5FE3493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Move focus to the next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7EC9-77AC-4F60-9F66-576BA42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press Tab and commit the field</a:t>
            </a:r>
          </a:p>
        </p:txBody>
      </p:sp>
      <p:sp>
        <p:nvSpPr>
          <p:cNvPr id="1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189EC8D-794D-4137-B8EA-F14CDFF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3A181F-7F3E-4371-9A3E-133463C6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2120687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4B76AC-33A7-4D59-BCE0-A555509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 drag must be followed by proof.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23AD2E-154E-47A2-A5BC-4B5A8340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drop effect belongs to the application, so the next step must assert what changed.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9DF391AA-8F88-49D7-AB4C-02A1D8CC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144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6B47123D-28B8-4DDB-84C2-682F5026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76550"/>
            <a:ext cx="857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1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Write recipe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8B734-E523-4CD7-A259-27A5722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6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1EF4E-54C8-4B26-B2E8-47C4561B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6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96608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A96608"/>
                </a:solidFill>
                <a:latin typeface="Noto Sans"/>
                <a:ea typeface="Noto Sans"/>
                <a:cs typeface="Noto Sans"/>
              </a:rPr>
              <a:t>Actions stay human; this assertion is explicit because the drop area has no usable name</a:t>
            </a:r>
          </a:p>
        </p:txBody>
      </p:sp>
      <p:sp>
        <p:nvSpPr>
          <p:cNvPr id="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67836D4-6C2B-4869-8CDA-FFE98B0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6B5DAF-5001-4228-9795-24C1DAF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8819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0028B-23FF-4CB3-B5CA-5ECDCD31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Assertions wait for outcomes, not time.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471707-B4DA-4325-A742-722DB24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fixed sleep guesses. An assertion waits until its condition is true or its bound expires.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4C336F21-65A0-4F77-8712-858C217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89535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DD2309D3-2069-454C-989F-E9FF4FA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28900"/>
            <a:ext cx="8382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assert: page shows Saved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assert: the "SEND" is enabled within 40s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assert: the "Total" shows 42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assert: the "Basket" is not visible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assert: the "css:.row" appears 5 times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FF2BEBA-7390-43D6-B4E6-9371B996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272672-B75B-46A6-912D-DEF936FE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809873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5344D2-98F8-4C6B-9B47-12FADCCA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When the app invents a value, remember it.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3C405C-E560-43D8-9DD5-FE69DD6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value is read fresh during record and replay; only the human name appears in the specification.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09652B51-5BF3-4C8F-8C16-23B156CB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334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C0854A6D-97B9-46B4-85D6-F26F0496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876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offer ID as the offer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offer in Reference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number of displayed rows as the row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row count in 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AF9CA-6B65-421E-83D7-208E6EE8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64993-C552-4563-A16C-2CD0B27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No generated value is frozen into the trace</a:t>
            </a:r>
          </a:p>
        </p:txBody>
      </p:sp>
      <p:sp>
        <p:nvSpPr>
          <p:cNvPr id="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BE9804C-41D7-4C54-B206-88C063FD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4EABC8-BAFF-4917-B28F-74293F43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738476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46989E-DE6E-42CF-9D25-2E9434CC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Pin what drifts, then read the page.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8FF8CF-5FB1-4E7B-8AC2-1D6632D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seed, clock, and viewport make the environment reproducible; they do not replace observation.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578CE310-62C3-4CED-AAA4-B05B4249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B740F901-D87E-4EEF-9541-56223A3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381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viewport: { width: 1280, height: 900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clock: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at: "2026-01-15T12:00:00Z"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timezone: "Europe/Berlin"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983B2-C4CA-4719-84E6-6BE94E74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1460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1  Pin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2  Run with an intentionally wrong assertion.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3  Read the real value and update the flow.</a:t>
            </a:r>
          </a:p>
        </p:txBody>
      </p:sp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9A25B14-B9DB-4748-8C0C-E320A256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4D4214-BC02-49EC-862D-3C165AC5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737203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93A7FC-89D6-4788-8D11-6294AD4B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Read values off the page. Do not predict them.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42B3EC-FF4E-4B8A-A9AC-1A3BC468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Other scripts may consume random draws first. The seed fixes the sequence, not the position.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4C980-403A-44CB-A9FE-22834346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The stable test is not “our PRNG simulation agrees.”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The stable test is “the page displayed this value, the flow used it, and replay proved the same relationship again.”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015AF-984C-4889-B91F-D602547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44C49-C4AF-4AFA-BB56-748555A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15FB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315FBD"/>
                </a:solidFill>
                <a:latin typeface="Noto Sans"/>
                <a:ea typeface="Noto Sans"/>
                <a:cs typeface="Noto Sans"/>
              </a:rPr>
              <a:t>A pinned viewport also prevents controls from drifting under occluders</a:t>
            </a:r>
          </a:p>
        </p:txBody>
      </p:sp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249A6EC-2451-458C-B385-A52AE35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747924-2E58-4105-A7ED-DBB0848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7758676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409E61-E7EF-4380-A87C-AEE721A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Repeat and when remain explicit.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4BA5CD-2911-4603-A0CA-753712A3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Control structure is deterministic; the actions nested inside it remain ordinary human intent.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B23355DB-BBBB-45CF-91DB-CA13C2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647700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E1BC643A-C434-4D50-87D2-079DC4AD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59055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repeat: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until: page shows Enough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max: 15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- Press the counter button again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- when: the recovery button is not visible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- Enable recovery mode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488179A-0FDA-47E7-89D4-C62238C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2A374C-CFFB-43A7-9FDA-B6C83018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62090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158D4B-D041-41CC-B569-4FE02AA2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Conditions read state and never wait.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20676C-6E15-48B3-9EFF-3219FF7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Keep them narrow enough to distinguish the intended state from similar words elsewhere on the page.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43D45-0920-48FC-AE70-2CF9013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page shows 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589F-1ACD-4C31-85C7-1FA0022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visible surface contains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AA46E-6419-473A-962C-E244680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the target shows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91E52-DE82-4A99-A3A3-565BCDA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one resolved element contains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8219E-6C37-441C-B30C-0B555A03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the target is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DBDF6-DAEB-4778-8F59-22C1F0A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it resolves and is rendered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E114E-6A4E-4C6D-97EE-7D1D3FC2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A is greater than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BC670-0807-4235-9D15-CAA6A4B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both values parse as numbers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A5F15-19E1-4B6A-9B3C-DB74FC2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6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71B7A-E6EF-4997-9816-32F7B025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96608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A96608"/>
                </a:solidFill>
                <a:latin typeface="Noto Sans"/>
                <a:ea typeface="Noto Sans"/>
                <a:cs typeface="Noto Sans"/>
              </a:rPr>
              <a:t>A broad page condition can match an unrelated heading</a:t>
            </a:r>
          </a:p>
        </p:txBody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9DC0159-66EE-40B2-A665-1BE9F97F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2B21C-B4FE-42B2-85DF-10FC7C8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2045785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84956-3137-44C4-A2E2-F5EB3557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frame is part of the target.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FA9B88-B8D2-4D67-831A-5117505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People describe the embedded surface; the recording stores an ordinary deterministic framed target.</a:t>
            </a:r>
          </a:p>
        </p:txBody>
      </p:sp>
      <p:sp>
        <p:nvSpPr>
          <p:cNvPr id="3" name="code-card">
            <a:extLst xmlns:a="http://schemas.openxmlformats.org/drawingml/2006/main">
              <a:ext uri="{FF2B5EF4-FFF2-40B4-BE49-F238E27FC236}">
                <a16:creationId xmlns:a16="http://schemas.microsoft.com/office/drawing/2014/main" id="{7F18E2F3-1022-4874-B029-417C5F8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334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1468C746-5CA0-40C0-A865-2F40A1D6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Scroll the embedded challenge to 147 pixels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Tosca in the text field inside the embedded challenge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answer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A68C72E-C0CF-443C-93CA-0AE5C9B4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9275ED-D987-4382-865D-AEF040B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900667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8D130C-2C96-4893-A7A3-8879C8F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Flowproof refuses shortcuts a person could not take.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9040A0-1E4E-4556-9B11-B9B89D3E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framework treats a trustworthy failure as more valuable than an unearned green.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F5DA9-96C9-43B7-88A9-9CCF81BF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No invented selectors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384D-02F8-47E9-9729-6026718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model must choose a listed live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42300-F3CC-41CB-ABAA-700A415E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No click through an occluder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1FA95-6508-425D-A3C7-EF8D5AAC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real hit target must receive the click.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C438C-1054-48F5-B916-5805CC6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No hidden human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DA72A-A859-4258-B28C-3F1D3DD3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81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rendered inventory cannot name an invisible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889A5-8963-41F7-B55C-8362AA5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No synthetic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2AC06-0362-4F5E-9E4F-B6516F4E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33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An app-defined effect must be asserted.</a:t>
            </a:r>
          </a:p>
        </p:txBody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11C04C-9596-4424-9B91-04915EC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BB61D7-6FC4-4829-8B21-27D58153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4823717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FAA99-7468-4FA3-A6AD-40F6B7A8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 false green is worse than a refusal.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47A65C-E254-4C55-8CE4-BE53EFF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Obstacle 51130 reports success even though its popup never opens. Recording that pass would prove nothing.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D2BEB-A6A8-4FA0-84E5-A4F2BA1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79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700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REFUSE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6832C-E10D-482D-9776-02F3A180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passing report must correspond to working software.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574703E-4C9F-40D7-B8C7-79AFB0E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E84CB8-1F81-4A70-AAC8-21C58B1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695271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ACD0AA-57FC-434B-A080-6736582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Human intent is default. Structure stays explicit.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9F6643-F55E-4853-9963-892C0D8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source remains readable without making replay probabilistic.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D2B82-2041-4C9A-9AF0-E985FC6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0482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AF8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32C8A-019A-416D-941D-A94E2AE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Plain scalar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75EB3-BF64-46BD-923C-145B154C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Any natural wording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Grounded against the live scene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Validated target inventory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Deterministic trace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202A-2BB9-4EE4-9826-6065512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50482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939BB-16A8-4E8D-95E6-D4055DA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Structured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C6FA0-5102-4940-9DAA-3D4393E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assert: expected outcome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repeat: condition and bound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when: deterministic branch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Explicit failure semantics</a:t>
            </a:r>
          </a:p>
        </p:txBody>
      </p:sp>
      <p:sp>
        <p:nvSpPr>
          <p:cNvPr id="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C6F389F-24B8-4842-BAA5-35F3C98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F700A2-BE92-412D-A257-804111EB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19722612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EB3BF2-EFB6-4605-B0C0-A7A6E1F4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Every exercise names its technique.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9B6068-3119-4DD9-B2C4-A406EC2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Green entries have a passing record and replay. Red entries document a real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2AD4B-1CA5-45BC-86EE-AD65BE7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12952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65751-6A9A-4E32-BEED-3BD03228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534BC-EC72-4DE3-AB03-1530831F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3829A-81FF-4284-92E7-A877FEB1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14090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32450-4A9A-456B-BD1B-380771A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Dropdown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F2EAC-2D4C-459F-8F13-CF5BC0F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Select several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25A8E-87E3-462F-A28E-54443FE1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16384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56826-487D-4965-8382-6B6A7360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Test data in a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A00D3-4183-4298-B02C-A4CB19FE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Deadline shorter than the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FDDC6-239B-4A1C-8D41-C5AE25F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19875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2B5D4-9626-4E38-BF91-FC573F3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74536-1668-4199-96BC-7D733DC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the clock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AC948-3D4F-4BD6-9CBB-FD283D38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21269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6263B-A17D-406B-8731-1AC92AB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Future Christmas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52C95-F96F-42CF-9D70-1D7D174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the clock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CD75F-2379-4063-922D-6E3E1758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22505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D36CF-3C96-4021-953D-97EE1BE6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Ids are not everything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38FE3-E56C-403B-A8B5-1E38768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DC61A-342C-415F-BA52-5768ADFD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23292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B150E-8913-4725-B4E6-923E81B4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Todo 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4A5A3-34FD-434C-BC92-783314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Drag and prove the drop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22F63-CE2F-4777-9727-A1C23A6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24499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8E68E-FAAD-442C-8EDF-8D832E75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And counting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47349-781A-4CC5-81A0-615620D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randomness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C35A3-0851-4D0E-9B18-9E9D2BF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30034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4DEDE-4CBE-44F1-AE2D-3AF48DE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Red stripe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BB826-4985-4022-ACB5-87BC21E7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Ground a small visual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DFB47-EEFC-4906-A1D6-30D4994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32403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41437-5223-4785-87F9-55C2BFD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Math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9BF16-CF5B-4711-A0EF-C85D23B2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Read, then answer</a:t>
            </a:r>
          </a:p>
        </p:txBody>
      </p:sp>
      <p:sp>
        <p:nvSpPr>
          <p:cNvPr id="3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B6E08E7-F372-422A-8BF7-7A547DB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3814ED-9A6A-411F-8B13-082AE9E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4282578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28DA52-C6AD-4131-9674-7490373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Obstacle map, continued.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C3DFAF-1DC9-4A4E-B870-CA06A38A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Green entries have a passing record and replay. Red entries document a real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88C8-74EA-464F-8334-BADCCDC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33678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9919D-A999-4C0A-ADEE-F0356302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Wait a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867DF-8FF5-47CB-9813-871E3273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Auto-wait an assertion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DF7E9-1BEA-4EB5-AE54-4F32FCE3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41032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33DEA-2273-4F95-957C-9150CD3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Lots of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42DA5-48AF-4964-A599-277D95EA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Remember a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A3428-8DDA-4DD1-A30B-2EA1646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41036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DBF-634F-4CD5-A99B-ED97200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Table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718B2-1784-4B3D-A8EF-D6BAD4AC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randomness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963E5-86A1-4A85-8488-8B0FB17B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41037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FCEC-7CF3-4A60-9A2F-CBDC6DE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Meeting scheduler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95A8D-A765-4035-97CE-4E8BFFA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a table relationship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8EB15-4417-4A00-B3BC-5381E94B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41038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B102A-C73A-4E3E-A9CC-A35A057A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Halfway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96513-1D40-4D1C-BFFD-EF81E56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Click a meaningful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1818B-31C1-43D0-B6CC-B153129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41040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032B7-0A69-4507-B7B7-FB7A3877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Click me if you 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77116-42D1-4D09-905F-EC54EF43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Pointer cannot land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1C777-8425-4AE0-A059-B098E1E4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41041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E187C-3753-4C35-B412-951139E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Escape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AD20D-217E-4544-9EDE-FE9F9EE4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Literal 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11665-9F94-4D04-A8ED-8AD0B6A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45618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9E79B-3E9A-4905-B1A5-18D147A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Tough cookie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A66E8-1FAC-415F-954E-13A8ACC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Focus and key commit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EE4ED5-00E1-4E8F-8F05-E0DAA26A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51130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2B4B6-996A-4958-98BB-2E83F62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Popup windows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8E689-2FB1-497B-A1B9-D45F71B8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Vacuous green refused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032303-5AD3-4E3B-AAEE-83EC8191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57683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987C6-92EE-4E74-8587-3680DB3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Confusing dates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4BD6A-0C64-4249-8B5E-1C86F6AB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randomness</a:t>
            </a:r>
          </a:p>
        </p:txBody>
      </p:sp>
      <p:sp>
        <p:nvSpPr>
          <p:cNvPr id="3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A750E89-1754-4708-BD1C-F84B2C7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9FF961-BC23-4C58-9500-98A8D0E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6281580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0DA072-349A-4193-ADFD-6B352AD3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Obstacle map, continued.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7ADE33-7BC4-43F3-B652-E1FA8887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Green entries have a passing record and replay. Red entries document a real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FAC37-6576-481D-B0D6-F9CFA149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60469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9480-7582-441F-8129-E26D77A6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Flying element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DE62-C6C3-4625-8D39-9E879FC9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AE60B-3FFA-4409-A6E4-F545BC3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64161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15016-E5E9-4BE7-969A-8B29A2E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Not a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E0682-6B0D-4433-A8E7-7808C06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Scoped live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7305-0594-4781-9BA6-4E905BDA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66666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E8304-724F-42E2-B777-4A01FEA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Hidden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86A71-01D2-4942-B57E-1E4DF3A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Not human-groundable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2A482-EF76-4F54-BF74-780A1765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66667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1B80D-8F29-4834-94F0-FE48E60A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24FD2-78B2-4D62-8934-582CEB1D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Ground maze checkpoints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F08F1-ADBB-4C0C-9872-0ACBFCA6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70310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E319A-C354-4259-B4C7-2D4F97C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last 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9B208-DFD2-48B4-99B7-5E4F6CB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Remember the final cell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AACB7-1087-40F8-B152-7A89414E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70924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5F4BF-878C-43CE-BDD5-540F128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Errors occur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B7A7B-F216-4CD3-8EF0-05FDEB4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 and recover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BFEB6-8851-4218-8096-B27D853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72946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D12DC-8093-419A-A71C-1FBAB94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Get the number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AD0AA-D002-4595-B6BE-C2B7D53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a fixed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64E51-F0BC-4F46-9D98-A6D3568A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72954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E3EAE-E95B-44FE-863A-19F7714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Two times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A6C9D-DA1D-4409-BBCD-D698694D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Stable visible 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507B7-536B-4561-9152-4EE82FD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73588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A05A4-83CA-43DB-8322-876B82F6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obvious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BCE58-A85E-4855-9A40-1337E38F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Select a generated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39B7D-663F-47E9-9F73-037805E3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73589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F7629-83A9-4365-9372-AF103B40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Bubble sort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F679F-0F28-4AB1-93F9-3E10CEA8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 and compare</a:t>
            </a:r>
          </a:p>
        </p:txBody>
      </p:sp>
      <p:sp>
        <p:nvSpPr>
          <p:cNvPr id="3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9552DE3-9813-46E3-8105-3AC6AAB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97480B-4AF2-4417-9930-1290287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4972662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5994B3-1911-46B5-81CA-E811D72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Obstacle map, continued.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4C8CDB-F06D-4659-B42E-D195C7F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Green entries have a passing record and replay. Red entries document a real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CF78C-0D82-4C1E-AA55-098403F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73590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52D8F-6BCF-4F2A-8897-916911A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Find and fill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A9E99-88DF-42D9-B7E0-A73C4CD3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1460-D24E-4ACC-A91B-185AC68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73591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D9F20-B478-4D9D-BD4D-BE952AE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Find the changed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B616A-1202-43E3-86AC-222F95B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2DC69-E58E-4EE9-BA2F-528A4D3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78264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B4D45-E060-4E89-9DD3-C469A71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Addition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93A9-295F-4B57-85CB-4A12A88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randomness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7A492-3185-487E-A22E-D3DE8A7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81012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59DDC-2296-4632-ABC5-1CD5968B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Extracting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F4340-8466-4C80-9A53-B88A48AD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Read, then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D45C6-7C6C-417C-AAC7-E323172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81121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7DB61-A0A3-4239-B79D-E33FBDDE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Again and again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BD1F1-B322-495C-B553-37D2C23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 to visible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4F88F-8439-41C1-B2D5-B81273E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82018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D4EC0-35CC-465D-BB9A-4C6A12CD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Reaction game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AD461-4E7B-4162-AC6F-F2B7173A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Frame-rate timing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71839-63EA-4711-A805-132E3DB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87912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10691-3897-4327-B25B-5D0DB31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Be fast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0E122-C47C-43F4-ABA6-4E9FE71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Deadline shorter than the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04820-A733-4661-9F6C-793F675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92248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68A81-C995-46C5-AC89-A609C3B5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Fun with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1D2F4-200C-4360-A57A-7E3EDA4B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No completion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32AFF-8F0A-4EE2-9562-66F0BD4F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94441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BC2D01-0591-45F5-8A56-B6DAAEF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Testing methods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7FF4C-69BF-438C-9B0E-60AFB4F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Choose several 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6A0B7-D25C-439F-8BC5-5F29B5D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28759"/>
                </a:solidFill>
                <a:latin typeface="JetBrains Mono"/>
                <a:ea typeface="JetBrains Mono"/>
                <a:cs typeface="JetBrains Mono"/>
              </a:rPr>
              <a:t>99999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079F2-9E22-4EBD-A6FE-8E61F897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Scroll into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478C5-EF12-45D0-9A09-A3E3B36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3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Work inside a frame</a:t>
            </a:r>
          </a:p>
        </p:txBody>
      </p:sp>
      <p:sp>
        <p:nvSpPr>
          <p:cNvPr id="3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60EA767-760E-4B0F-A50D-D78718C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B61617-38D6-48F8-A459-35A612F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4865251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A691E-597C-4E4B-A368-710C059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Twenty-eight passing solutions.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516E-54A5-4657-A294-5C3D488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Twelve honest refusals.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23D5-04AB-4936-9D43-05F7AA7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Zero sketches.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E457A-EEA9-42B2-B07C-23622DA1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Every green corresponds to a passing record and a passing replay.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3786D89-6212-45FB-9005-F27EED80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Training  /  Flowproof 0.12.2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ECA5CA-EA55-4086-8C9C-9AD21C2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767762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2026-08-04T07:06:31.7150000Z</dcterms:created>
  <dcterms:modified xsi:type="dcterms:W3CDTF">2026-08-04T07:06:31.7150000Z</dcterms:modified>
</coreProperties>
</file>